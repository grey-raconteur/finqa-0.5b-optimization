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y="6858000" cx="12192000"/>
  <p:notesSz cx="6858000" cy="9144000"/>
  <p:embeddedFontLst>
    <p:embeddedFont>
      <p:font typeface="Urbanist Medium"/>
      <p:regular r:id="rId18"/>
      <p:bold r:id="rId19"/>
      <p:italic r:id="rId20"/>
      <p:boldItalic r:id="rId21"/>
    </p:embeddedFont>
    <p:embeddedFont>
      <p:font typeface="Urbanist"/>
      <p:regular r:id="rId22"/>
      <p:bold r:id="rId23"/>
      <p:italic r:id="rId24"/>
      <p:boldItalic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071A6263-AD8E-44E9-A36C-080E755A7137}">
  <a:tblStyle styleId="{071A6263-AD8E-44E9-A36C-080E755A7137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9543B675-215A-4033-A1AE-40D8717CC3BD}" styleName="Table_1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UrbanistMedium-italic.fntdata"/><Relationship Id="rId22" Type="http://schemas.openxmlformats.org/officeDocument/2006/relationships/font" Target="fonts/Urbanist-regular.fntdata"/><Relationship Id="rId21" Type="http://schemas.openxmlformats.org/officeDocument/2006/relationships/font" Target="fonts/UrbanistMedium-boldItalic.fntdata"/><Relationship Id="rId24" Type="http://schemas.openxmlformats.org/officeDocument/2006/relationships/font" Target="fonts/Urbanist-italic.fntdata"/><Relationship Id="rId23" Type="http://schemas.openxmlformats.org/officeDocument/2006/relationships/font" Target="fonts/Urbanist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5" Type="http://schemas.openxmlformats.org/officeDocument/2006/relationships/font" Target="fonts/Urbanist-bold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font" Target="fonts/UrbanistMedium-bold.fntdata"/><Relationship Id="rId18" Type="http://schemas.openxmlformats.org/officeDocument/2006/relationships/font" Target="fonts/UrbanistMedium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295275" y="1495573"/>
            <a:ext cx="11601600" cy="9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30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Optimizing </a:t>
            </a:r>
            <a:r>
              <a:rPr b="1" lang="en-US" sz="6300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Qwen</a:t>
            </a:r>
            <a:r>
              <a:rPr b="1" i="0" lang="en-US" sz="630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b="1" lang="en-US" sz="6300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for FinQA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2286000" y="3648223"/>
            <a:ext cx="7620000" cy="77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Benchmarking and Enhancing Qwen</a:t>
            </a:r>
            <a:r>
              <a:rPr lang="en-US" sz="210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b="0" i="0" lang="en-US" sz="21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2.5</a:t>
            </a:r>
            <a:r>
              <a:rPr lang="en-US" sz="210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b="0" i="0" lang="en-US" sz="21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0.5B on the FinQA Hybrid Benchmark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571500" y="5069085"/>
            <a:ext cx="11049000" cy="293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May 2026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2" name="Google Shape;92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4"/>
          <p:cNvSpPr txBox="1"/>
          <p:nvPr/>
        </p:nvSpPr>
        <p:spPr>
          <a:xfrm>
            <a:off x="1000125" y="2712690"/>
            <a:ext cx="10620375" cy="293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Explore the </a:t>
            </a:r>
            <a:r>
              <a:rPr b="1" i="0" lang="en-US" sz="16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FinQA</a:t>
            </a:r>
            <a:r>
              <a:rPr b="0" i="0" lang="en-US" sz="16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benchmark for multi-step hybrid reasoning.</a:t>
            </a:r>
            <a:endParaRPr/>
          </a:p>
        </p:txBody>
      </p:sp>
      <p:sp>
        <p:nvSpPr>
          <p:cNvPr id="94" name="Google Shape;94;p14"/>
          <p:cNvSpPr txBox="1"/>
          <p:nvPr/>
        </p:nvSpPr>
        <p:spPr>
          <a:xfrm>
            <a:off x="1000125" y="3291780"/>
            <a:ext cx="106203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Evaluate the performance of the </a:t>
            </a:r>
            <a:r>
              <a:rPr b="1" i="0" lang="en-US" sz="16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Qwen-2.5</a:t>
            </a:r>
            <a:r>
              <a:rPr b="1" lang="en-US" sz="165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b="1" i="0" lang="en-US" sz="16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0.5B</a:t>
            </a:r>
            <a:r>
              <a:rPr b="0" i="0" lang="en-US" sz="16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model.</a:t>
            </a:r>
            <a:endParaRPr/>
          </a:p>
        </p:txBody>
      </p:sp>
      <p:sp>
        <p:nvSpPr>
          <p:cNvPr id="95" name="Google Shape;95;p14"/>
          <p:cNvSpPr txBox="1"/>
          <p:nvPr/>
        </p:nvSpPr>
        <p:spPr>
          <a:xfrm>
            <a:off x="1000125" y="3870870"/>
            <a:ext cx="10620375" cy="293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Perform a forensic audit of failure modes to identify architectural limitations.</a:t>
            </a:r>
            <a:endParaRPr/>
          </a:p>
        </p:txBody>
      </p:sp>
      <p:sp>
        <p:nvSpPr>
          <p:cNvPr id="96" name="Google Shape;96;p14"/>
          <p:cNvSpPr txBox="1"/>
          <p:nvPr/>
        </p:nvSpPr>
        <p:spPr>
          <a:xfrm>
            <a:off x="1000125" y="4449960"/>
            <a:ext cx="10620375" cy="293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Implement data-level innovations to break the performance ceiling for small models.</a:t>
            </a:r>
            <a:endParaRPr/>
          </a:p>
        </p:txBody>
      </p:sp>
      <p:sp>
        <p:nvSpPr>
          <p:cNvPr id="97" name="Google Shape;97;p14"/>
          <p:cNvSpPr txBox="1"/>
          <p:nvPr/>
        </p:nvSpPr>
        <p:spPr>
          <a:xfrm>
            <a:off x="571500" y="2712690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98" name="Google Shape;98;p14"/>
          <p:cNvSpPr txBox="1"/>
          <p:nvPr/>
        </p:nvSpPr>
        <p:spPr>
          <a:xfrm>
            <a:off x="571500" y="3291780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571500" y="3870870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100" name="Google Shape;100;p14"/>
          <p:cNvSpPr txBox="1"/>
          <p:nvPr/>
        </p:nvSpPr>
        <p:spPr>
          <a:xfrm>
            <a:off x="571500" y="4449960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571500" y="571500"/>
            <a:ext cx="11601450" cy="5028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99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Research </a:t>
            </a:r>
            <a:r>
              <a:rPr b="1" i="0" lang="en-US" sz="36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Objectives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6" name="Google Shape;106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-6025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5"/>
          <p:cNvSpPr txBox="1"/>
          <p:nvPr/>
        </p:nvSpPr>
        <p:spPr>
          <a:xfrm>
            <a:off x="571500" y="2030759"/>
            <a:ext cx="5238750" cy="586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FinQA challenges models with heterogeneous financial reports containing tables and prose.</a:t>
            </a:r>
            <a:endParaRPr/>
          </a:p>
        </p:txBody>
      </p:sp>
      <p:sp>
        <p:nvSpPr>
          <p:cNvPr id="108" name="Google Shape;108;p15"/>
          <p:cNvSpPr txBox="1"/>
          <p:nvPr/>
        </p:nvSpPr>
        <p:spPr>
          <a:xfrm>
            <a:off x="1000125" y="2807940"/>
            <a:ext cx="4810125" cy="293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8,281</a:t>
            </a:r>
            <a:r>
              <a:rPr b="0" i="0" lang="en-US" sz="16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Expert-annotated QA pairs.</a:t>
            </a:r>
            <a:endParaRPr/>
          </a:p>
        </p:txBody>
      </p:sp>
      <p:sp>
        <p:nvSpPr>
          <p:cNvPr id="109" name="Google Shape;109;p15"/>
          <p:cNvSpPr txBox="1"/>
          <p:nvPr/>
        </p:nvSpPr>
        <p:spPr>
          <a:xfrm>
            <a:off x="1000125" y="3387025"/>
            <a:ext cx="9063900" cy="309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5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Sample Data:</a:t>
            </a:r>
            <a:endParaRPr b="1" sz="1650">
              <a:solidFill>
                <a:srgbClr val="DAFFDE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Question: what is the net change in net revenue during 2015 for entergy corporation?</a:t>
            </a:r>
            <a:endParaRPr sz="1650">
              <a:solidFill>
                <a:srgbClr val="DAFFDE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Program: subtract(5829, 5735)</a:t>
            </a:r>
            <a:endParaRPr sz="1650">
              <a:solidFill>
                <a:srgbClr val="DAFFDE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Execution Answer: 94.0</a:t>
            </a:r>
            <a:endParaRPr sz="1650">
              <a:solidFill>
                <a:srgbClr val="DAFFDE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Gold Evidence (Indices): {'table_1': 'the 2014 net revenue of amount ( in millions ) is $ 5735 ;', 'table_8': 'the 2015 net revenue of amount ( in millions ) is $ 5829 ;'}</a:t>
            </a:r>
            <a:endParaRPr sz="1650">
              <a:solidFill>
                <a:srgbClr val="DAFFDE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Table Row 0: ['', 'amount ( in millions )']</a:t>
            </a:r>
            <a:endParaRPr sz="1650">
              <a:solidFill>
                <a:srgbClr val="DAFFDE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5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Pre-text sample: ['entergy corporation and subsidiaries management……</a:t>
            </a:r>
            <a:endParaRPr sz="1650">
              <a:solidFill>
                <a:srgbClr val="DAFFDE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50">
              <a:solidFill>
                <a:srgbClr val="DAFFDE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10" name="Google Shape;110;p15"/>
          <p:cNvSpPr txBox="1"/>
          <p:nvPr/>
        </p:nvSpPr>
        <p:spPr>
          <a:xfrm>
            <a:off x="571500" y="2807940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111" name="Google Shape;111;p15"/>
          <p:cNvSpPr txBox="1"/>
          <p:nvPr/>
        </p:nvSpPr>
        <p:spPr>
          <a:xfrm>
            <a:off x="571500" y="3387030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112" name="Google Shape;112;p15"/>
          <p:cNvSpPr txBox="1"/>
          <p:nvPr/>
        </p:nvSpPr>
        <p:spPr>
          <a:xfrm>
            <a:off x="571500" y="571500"/>
            <a:ext cx="11601450" cy="5028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99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The Dataset: </a:t>
            </a:r>
            <a:r>
              <a:rPr b="1" i="0" lang="en-US" sz="36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FinQA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7" name="Google Shape;117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16"/>
          <p:cNvSpPr txBox="1"/>
          <p:nvPr/>
        </p:nvSpPr>
        <p:spPr>
          <a:xfrm>
            <a:off x="571500" y="2785020"/>
            <a:ext cx="5238750" cy="17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9.0%</a:t>
            </a:r>
            <a:endParaRPr/>
          </a:p>
        </p:txBody>
      </p:sp>
      <p:sp>
        <p:nvSpPr>
          <p:cNvPr id="119" name="Google Shape;119;p16"/>
          <p:cNvSpPr txBox="1"/>
          <p:nvPr/>
        </p:nvSpPr>
        <p:spPr>
          <a:xfrm>
            <a:off x="571500" y="4594770"/>
            <a:ext cx="523875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DAFFDE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Execution Accuracy</a:t>
            </a:r>
            <a:endParaRPr/>
          </a:p>
        </p:txBody>
      </p:sp>
      <p:sp>
        <p:nvSpPr>
          <p:cNvPr id="120" name="Google Shape;120;p16"/>
          <p:cNvSpPr txBox="1"/>
          <p:nvPr/>
        </p:nvSpPr>
        <p:spPr>
          <a:xfrm>
            <a:off x="6381750" y="2746027"/>
            <a:ext cx="5500687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The Initial State</a:t>
            </a:r>
            <a:endParaRPr/>
          </a:p>
        </p:txBody>
      </p:sp>
      <p:sp>
        <p:nvSpPr>
          <p:cNvPr id="121" name="Google Shape;121;p16"/>
          <p:cNvSpPr txBox="1"/>
          <p:nvPr/>
        </p:nvSpPr>
        <p:spPr>
          <a:xfrm>
            <a:off x="6810375" y="2965102"/>
            <a:ext cx="4810125" cy="293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Model often guesses based on </a:t>
            </a:r>
            <a:r>
              <a:rPr b="1" i="0" lang="en-US" sz="16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narrative hints</a:t>
            </a:r>
            <a:r>
              <a:rPr b="0" i="0" lang="en-US" sz="16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.</a:t>
            </a:r>
            <a:endParaRPr/>
          </a:p>
        </p:txBody>
      </p:sp>
      <p:sp>
        <p:nvSpPr>
          <p:cNvPr id="122" name="Google Shape;122;p16"/>
          <p:cNvSpPr txBox="1"/>
          <p:nvPr/>
        </p:nvSpPr>
        <p:spPr>
          <a:xfrm>
            <a:off x="6810375" y="3544192"/>
            <a:ext cx="4810125" cy="293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Struggles with 2D grid linearization.</a:t>
            </a:r>
            <a:endParaRPr/>
          </a:p>
        </p:txBody>
      </p:sp>
      <p:sp>
        <p:nvSpPr>
          <p:cNvPr id="123" name="Google Shape;123;p16"/>
          <p:cNvSpPr txBox="1"/>
          <p:nvPr/>
        </p:nvSpPr>
        <p:spPr>
          <a:xfrm>
            <a:off x="6810375" y="4123283"/>
            <a:ext cx="4810125" cy="586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Reliability gap between numerical match and reasoning logic.</a:t>
            </a:r>
            <a:endParaRPr/>
          </a:p>
        </p:txBody>
      </p:sp>
      <p:sp>
        <p:nvSpPr>
          <p:cNvPr id="124" name="Google Shape;124;p16"/>
          <p:cNvSpPr txBox="1"/>
          <p:nvPr/>
        </p:nvSpPr>
        <p:spPr>
          <a:xfrm>
            <a:off x="6381750" y="2965102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125" name="Google Shape;125;p16"/>
          <p:cNvSpPr txBox="1"/>
          <p:nvPr/>
        </p:nvSpPr>
        <p:spPr>
          <a:xfrm>
            <a:off x="6381750" y="3544192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126" name="Google Shape;126;p16"/>
          <p:cNvSpPr txBox="1"/>
          <p:nvPr/>
        </p:nvSpPr>
        <p:spPr>
          <a:xfrm>
            <a:off x="6381750" y="4123283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127" name="Google Shape;127;p16"/>
          <p:cNvSpPr txBox="1"/>
          <p:nvPr/>
        </p:nvSpPr>
        <p:spPr>
          <a:xfrm>
            <a:off x="571500" y="571500"/>
            <a:ext cx="11601450" cy="5028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99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Layer 2: The </a:t>
            </a:r>
            <a:r>
              <a:rPr b="1" i="0" lang="en-US" sz="36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Baseline Wall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2" name="Google Shape;132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3" name="Google Shape;133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455390"/>
            <a:ext cx="11049000" cy="4831109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17"/>
          <p:cNvSpPr txBox="1"/>
          <p:nvPr/>
        </p:nvSpPr>
        <p:spPr>
          <a:xfrm>
            <a:off x="571500" y="5581650"/>
            <a:ext cx="11049000" cy="293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6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The "Smoking Gun": Retrieval Drift is the primary bottleneck for 0.5B models.</a:t>
            </a:r>
            <a:endParaRPr/>
          </a:p>
        </p:txBody>
      </p:sp>
      <p:sp>
        <p:nvSpPr>
          <p:cNvPr id="135" name="Google Shape;135;p17"/>
          <p:cNvSpPr txBox="1"/>
          <p:nvPr/>
        </p:nvSpPr>
        <p:spPr>
          <a:xfrm>
            <a:off x="571500" y="571500"/>
            <a:ext cx="11601450" cy="5028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99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Forensic Audit: </a:t>
            </a:r>
            <a:r>
              <a:rPr b="1" i="0" lang="en-US" sz="36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Error Taxonomy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0" name="Google Shape;140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8"/>
          <p:cNvSpPr txBox="1"/>
          <p:nvPr/>
        </p:nvSpPr>
        <p:spPr>
          <a:xfrm>
            <a:off x="571500" y="571500"/>
            <a:ext cx="11601450" cy="5028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99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Context </a:t>
            </a:r>
            <a:r>
              <a:rPr b="1" i="0" lang="en-US" sz="36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Sensitivity</a:t>
            </a:r>
            <a:r>
              <a:rPr b="1" i="0" lang="en-US" sz="360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 Analysis</a:t>
            </a:r>
            <a:endParaRPr/>
          </a:p>
        </p:txBody>
      </p:sp>
      <p:sp>
        <p:nvSpPr>
          <p:cNvPr id="142" name="Google Shape;142;p18"/>
          <p:cNvSpPr txBox="1"/>
          <p:nvPr/>
        </p:nvSpPr>
        <p:spPr>
          <a:xfrm>
            <a:off x="711100" y="2012800"/>
            <a:ext cx="10305000" cy="79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5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O</a:t>
            </a:r>
            <a:r>
              <a:rPr b="1" lang="en-US" sz="165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bservation:</a:t>
            </a:r>
            <a:r>
              <a:rPr lang="en-US" sz="165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Text-only achieved higher raw scores, but a </a:t>
            </a:r>
            <a:r>
              <a:rPr b="1" lang="en-US" sz="165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58.3% False Positive rate</a:t>
            </a:r>
            <a:r>
              <a:rPr lang="en-US" sz="165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proved these were "lucky guesses" from semantic matching.</a:t>
            </a:r>
            <a:endParaRPr/>
          </a:p>
        </p:txBody>
      </p:sp>
      <p:graphicFrame>
        <p:nvGraphicFramePr>
          <p:cNvPr id="143" name="Google Shape;143;p18"/>
          <p:cNvGraphicFramePr/>
          <p:nvPr/>
        </p:nvGraphicFramePr>
        <p:xfrm>
          <a:off x="952500" y="3429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{071A6263-AD8E-44E9-A36C-080E755A7137}</a:tableStyleId>
              </a:tblPr>
              <a:tblGrid>
                <a:gridCol w="2057400"/>
                <a:gridCol w="2057400"/>
                <a:gridCol w="2057400"/>
                <a:gridCol w="2057400"/>
                <a:gridCol w="20574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DAFFDE"/>
                          </a:solidFill>
                        </a:rPr>
                        <a:t>Format</a:t>
                      </a:r>
                      <a:endParaRPr>
                        <a:solidFill>
                          <a:srgbClr val="DAFFDE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DAFFDE"/>
                          </a:solidFill>
                        </a:rPr>
                        <a:t>Total Correct Answer</a:t>
                      </a:r>
                      <a:endParaRPr>
                        <a:solidFill>
                          <a:srgbClr val="DAFFDE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DAFFDE"/>
                          </a:solidFill>
                        </a:rPr>
                        <a:t>True Positive</a:t>
                      </a:r>
                      <a:endParaRPr>
                        <a:solidFill>
                          <a:srgbClr val="DAFFDE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DAFFDE"/>
                          </a:solidFill>
                        </a:rPr>
                        <a:t>False Positive</a:t>
                      </a:r>
                      <a:endParaRPr>
                        <a:solidFill>
                          <a:srgbClr val="DAFFDE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DAFFDE"/>
                          </a:solidFill>
                        </a:rPr>
                        <a:t>False Positive Rate (%)</a:t>
                      </a:r>
                      <a:endParaRPr>
                        <a:solidFill>
                          <a:srgbClr val="DAFFDE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DAFFDE"/>
                          </a:solidFill>
                        </a:rPr>
                        <a:t>Full</a:t>
                      </a:r>
                      <a:endParaRPr>
                        <a:solidFill>
                          <a:srgbClr val="DAFFDE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DAFFDE"/>
                          </a:solidFill>
                        </a:rPr>
                        <a:t>8</a:t>
                      </a:r>
                      <a:endParaRPr>
                        <a:solidFill>
                          <a:srgbClr val="DAFFDE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DAFFDE"/>
                          </a:solidFill>
                        </a:rPr>
                        <a:t>7</a:t>
                      </a:r>
                      <a:endParaRPr>
                        <a:solidFill>
                          <a:srgbClr val="DAFFDE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DAFFDE"/>
                          </a:solidFill>
                        </a:rPr>
                        <a:t>1</a:t>
                      </a:r>
                      <a:endParaRPr>
                        <a:solidFill>
                          <a:srgbClr val="DAFFDE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DAFFDE"/>
                          </a:solidFill>
                        </a:rPr>
                        <a:t>12.5</a:t>
                      </a:r>
                      <a:endParaRPr>
                        <a:solidFill>
                          <a:srgbClr val="DAFFDE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DAFFDE"/>
                          </a:solidFill>
                        </a:rPr>
                        <a:t>Text Only</a:t>
                      </a:r>
                      <a:endParaRPr>
                        <a:solidFill>
                          <a:srgbClr val="DAFFDE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DAFFDE"/>
                          </a:solidFill>
                        </a:rPr>
                        <a:t>5</a:t>
                      </a:r>
                      <a:endParaRPr>
                        <a:solidFill>
                          <a:srgbClr val="DAFFDE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DAFFDE"/>
                          </a:solidFill>
                        </a:rPr>
                        <a:t>1</a:t>
                      </a:r>
                      <a:endParaRPr>
                        <a:solidFill>
                          <a:srgbClr val="DAFFDE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DAFFDE"/>
                          </a:solidFill>
                        </a:rPr>
                        <a:t>4</a:t>
                      </a:r>
                      <a:endParaRPr>
                        <a:solidFill>
                          <a:srgbClr val="DAFFDE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DAFFDE"/>
                          </a:solidFill>
                        </a:rPr>
                        <a:t>80</a:t>
                      </a:r>
                      <a:endParaRPr>
                        <a:solidFill>
                          <a:srgbClr val="DAFFDE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DAFFDE"/>
                          </a:solidFill>
                        </a:rPr>
                        <a:t>Table Only</a:t>
                      </a:r>
                      <a:endParaRPr>
                        <a:solidFill>
                          <a:srgbClr val="DAFFDE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DAFFDE"/>
                          </a:solidFill>
                        </a:rPr>
                        <a:t>12</a:t>
                      </a:r>
                      <a:endParaRPr>
                        <a:solidFill>
                          <a:srgbClr val="DAFFDE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DAFFDE"/>
                          </a:solidFill>
                        </a:rPr>
                        <a:t>5</a:t>
                      </a:r>
                      <a:endParaRPr>
                        <a:solidFill>
                          <a:srgbClr val="DAFFDE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DAFFDE"/>
                          </a:solidFill>
                        </a:rPr>
                        <a:t>7</a:t>
                      </a:r>
                      <a:endParaRPr>
                        <a:solidFill>
                          <a:srgbClr val="DAFFDE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DAFFDE"/>
                          </a:solidFill>
                        </a:rPr>
                        <a:t>58.3</a:t>
                      </a:r>
                      <a:endParaRPr>
                        <a:solidFill>
                          <a:srgbClr val="DAFFDE"/>
                        </a:solidFill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8" name="Google Shape;148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9" name="Google Shape;149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826097"/>
            <a:ext cx="5381625" cy="208969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0" name="Google Shape;150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38875" y="2826097"/>
            <a:ext cx="5381625" cy="2089695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19"/>
          <p:cNvSpPr txBox="1"/>
          <p:nvPr/>
        </p:nvSpPr>
        <p:spPr>
          <a:xfrm>
            <a:off x="962025" y="3216622"/>
            <a:ext cx="4830603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The Table Trap</a:t>
            </a:r>
            <a:endParaRPr/>
          </a:p>
        </p:txBody>
      </p:sp>
      <p:sp>
        <p:nvSpPr>
          <p:cNvPr id="152" name="Google Shape;152;p19"/>
          <p:cNvSpPr txBox="1"/>
          <p:nvPr/>
        </p:nvSpPr>
        <p:spPr>
          <a:xfrm>
            <a:off x="962025" y="3645247"/>
            <a:ext cx="4600575" cy="8800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80% False Positive rate in isolation. Without text, the model "blind-guesses" formulas against any visible digits.</a:t>
            </a:r>
            <a:endParaRPr/>
          </a:p>
        </p:txBody>
      </p:sp>
      <p:sp>
        <p:nvSpPr>
          <p:cNvPr id="153" name="Google Shape;153;p19"/>
          <p:cNvSpPr txBox="1"/>
          <p:nvPr/>
        </p:nvSpPr>
        <p:spPr>
          <a:xfrm>
            <a:off x="6629400" y="3216622"/>
            <a:ext cx="4830603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Full Context Advantage</a:t>
            </a:r>
            <a:endParaRPr/>
          </a:p>
        </p:txBody>
      </p:sp>
      <p:sp>
        <p:nvSpPr>
          <p:cNvPr id="154" name="Google Shape;154;p19"/>
          <p:cNvSpPr txBox="1"/>
          <p:nvPr/>
        </p:nvSpPr>
        <p:spPr>
          <a:xfrm>
            <a:off x="6629400" y="3645247"/>
            <a:ext cx="4600500" cy="87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Lowest False Positive rate (12.5%). Integration of </a:t>
            </a:r>
            <a:r>
              <a:rPr b="0" i="0" lang="en-US" sz="16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structured and unstructured data is critical for logical grounding.</a:t>
            </a:r>
            <a:endParaRPr/>
          </a:p>
        </p:txBody>
      </p:sp>
      <p:sp>
        <p:nvSpPr>
          <p:cNvPr id="155" name="Google Shape;155;p19"/>
          <p:cNvSpPr txBox="1"/>
          <p:nvPr/>
        </p:nvSpPr>
        <p:spPr>
          <a:xfrm>
            <a:off x="571500" y="571500"/>
            <a:ext cx="11601450" cy="5028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99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The </a:t>
            </a:r>
            <a:r>
              <a:rPr b="1" i="0" lang="en-US" sz="36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Reliability</a:t>
            </a:r>
            <a:r>
              <a:rPr b="1" i="0" lang="en-US" sz="360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 Gap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0" name="Google Shape;160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20"/>
          <p:cNvSpPr txBox="1"/>
          <p:nvPr/>
        </p:nvSpPr>
        <p:spPr>
          <a:xfrm>
            <a:off x="571500" y="571500"/>
            <a:ext cx="5200650" cy="5028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99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Innovation: The </a:t>
            </a:r>
            <a:r>
              <a:rPr b="1" i="0" lang="en-US" sz="36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Pivot</a:t>
            </a:r>
            <a:endParaRPr/>
          </a:p>
        </p:txBody>
      </p:sp>
      <p:sp>
        <p:nvSpPr>
          <p:cNvPr id="162" name="Google Shape;162;p20"/>
          <p:cNvSpPr txBox="1"/>
          <p:nvPr/>
        </p:nvSpPr>
        <p:spPr>
          <a:xfrm>
            <a:off x="571500" y="1455400"/>
            <a:ext cx="105651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Attempted </a:t>
            </a:r>
            <a:r>
              <a:rPr b="1" i="0" lang="en-US" sz="16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Semantic Transliteration</a:t>
            </a:r>
            <a:r>
              <a:rPr b="0" i="0" lang="en-US" sz="16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and </a:t>
            </a:r>
            <a:r>
              <a:rPr b="1" i="0" lang="en-US" sz="16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Two-Pass Extraction</a:t>
            </a:r>
            <a:r>
              <a:rPr b="0" i="0" lang="en-US" sz="16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.</a:t>
            </a:r>
            <a:endParaRPr/>
          </a:p>
        </p:txBody>
      </p:sp>
      <p:sp>
        <p:nvSpPr>
          <p:cNvPr id="163" name="Google Shape;163;p20"/>
          <p:cNvSpPr txBox="1"/>
          <p:nvPr/>
        </p:nvSpPr>
        <p:spPr>
          <a:xfrm>
            <a:off x="571500" y="2232584"/>
            <a:ext cx="102156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33375" lvl="0" marL="45720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DAFFDE"/>
              </a:buClr>
              <a:buSzPts val="1650"/>
              <a:buFont typeface="Urbanist"/>
              <a:buChar char="●"/>
            </a:pPr>
            <a:r>
              <a:rPr lang="en-US" sz="165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Went back to basics with a "less is more" strategy. implemented Row-Header Injection combined with Strict Extraction</a:t>
            </a:r>
            <a:endParaRPr sz="1650">
              <a:solidFill>
                <a:srgbClr val="DAFFDE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333375" lvl="0" marL="45720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DAFFDE"/>
              </a:buClr>
              <a:buSzPts val="1650"/>
              <a:buFont typeface="Urbanist"/>
              <a:buChar char="●"/>
            </a:pPr>
            <a:r>
              <a:rPr lang="en-US" sz="165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Modified the table grid so that the metric name was repeated at the start of every single row (e.g., | Metric: Net Revenue | 5829 | 5735 |). This provided a "constant anchor." No matter where the model was looking in the row, the label was right there. It didn't have to "remember" the header from the top of the page.</a:t>
            </a:r>
            <a:endParaRPr sz="1650">
              <a:solidFill>
                <a:srgbClr val="DAFFDE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333375" lvl="0" marL="45720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DAFFDE"/>
              </a:buClr>
              <a:buSzPts val="1650"/>
              <a:buFont typeface="Urbanist"/>
              <a:buChar char="●"/>
            </a:pPr>
            <a:r>
              <a:rPr lang="en-US" sz="165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Forced the model to end every response with a Final Answer: tag and added a code-level fix to automatically convert percentages to decimals during evaluation.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8" name="Google Shape;168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9" name="Google Shape;169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4437608"/>
            <a:ext cx="11049000" cy="142875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70" name="Google Shape;170;p21"/>
          <p:cNvGraphicFramePr/>
          <p:nvPr/>
        </p:nvGraphicFramePr>
        <p:xfrm>
          <a:off x="571500" y="1875383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{9543B675-215A-4033-A1AE-40D8717CC3BD}</a:tableStyleId>
              </a:tblPr>
              <a:tblGrid>
                <a:gridCol w="3115875"/>
                <a:gridCol w="2341075"/>
                <a:gridCol w="3082225"/>
                <a:gridCol w="2509825"/>
              </a:tblGrid>
              <a:tr h="545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DEFF9A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Metric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DEFF9A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Baseline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DEFF9A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Layer 3 Optimized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DEFF9A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Trend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1A1A"/>
                    </a:solidFill>
                  </a:tcPr>
                </a:tc>
              </a:tr>
              <a:tr h="545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DAFFDE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Execution Accuracy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DAFFDE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9.0%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DAFFDE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26.0%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DAFFDE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+189% Increase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  <a:tr h="545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DAFFDE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Retrieval Errors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DAFFDE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35 Count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DAFFDE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23 Count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DAFFDE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-34% Reduction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  <a:tr h="545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DAFFDE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Operational</a:t>
                      </a:r>
                      <a:r>
                        <a:rPr lang="en-US" sz="1200">
                          <a:solidFill>
                            <a:srgbClr val="DAFFDE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 Errors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rgbClr val="DAFFDE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55 Count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>
                          <a:solidFill>
                            <a:srgbClr val="DAFFDE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49 Count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rgbClr val="DAFFDE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-11% Reduction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</a:tbl>
          </a:graphicData>
        </a:graphic>
      </p:graphicFrame>
      <p:sp>
        <p:nvSpPr>
          <p:cNvPr id="171" name="Google Shape;171;p21"/>
          <p:cNvSpPr/>
          <p:nvPr/>
        </p:nvSpPr>
        <p:spPr>
          <a:xfrm>
            <a:off x="571500" y="2427833"/>
            <a:ext cx="3115865" cy="1905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21"/>
          <p:cNvSpPr/>
          <p:nvPr/>
        </p:nvSpPr>
        <p:spPr>
          <a:xfrm>
            <a:off x="3687365" y="2427833"/>
            <a:ext cx="2341066" cy="1905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21"/>
          <p:cNvSpPr/>
          <p:nvPr/>
        </p:nvSpPr>
        <p:spPr>
          <a:xfrm>
            <a:off x="6028432" y="2427833"/>
            <a:ext cx="3082230" cy="1905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21"/>
          <p:cNvSpPr/>
          <p:nvPr/>
        </p:nvSpPr>
        <p:spPr>
          <a:xfrm>
            <a:off x="9110662" y="2427833"/>
            <a:ext cx="2509837" cy="1905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21"/>
          <p:cNvSpPr txBox="1"/>
          <p:nvPr/>
        </p:nvSpPr>
        <p:spPr>
          <a:xfrm>
            <a:off x="571500" y="7333208"/>
            <a:ext cx="1104900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Accuracy Trend: Baseline → Attempt 1 → Optimized</a:t>
            </a:r>
            <a:endParaRPr/>
          </a:p>
        </p:txBody>
      </p:sp>
      <p:sp>
        <p:nvSpPr>
          <p:cNvPr id="176" name="Google Shape;176;p21"/>
          <p:cNvSpPr/>
          <p:nvPr/>
        </p:nvSpPr>
        <p:spPr>
          <a:xfrm>
            <a:off x="571500" y="2975520"/>
            <a:ext cx="3115865" cy="9525"/>
          </a:xfrm>
          <a:prstGeom prst="rect">
            <a:avLst/>
          </a:prstGeom>
          <a:solidFill>
            <a:srgbClr val="DAFFD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21"/>
          <p:cNvSpPr/>
          <p:nvPr/>
        </p:nvSpPr>
        <p:spPr>
          <a:xfrm>
            <a:off x="3687365" y="2975520"/>
            <a:ext cx="2341066" cy="9525"/>
          </a:xfrm>
          <a:prstGeom prst="rect">
            <a:avLst/>
          </a:prstGeom>
          <a:solidFill>
            <a:srgbClr val="DAFFD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21"/>
          <p:cNvSpPr/>
          <p:nvPr/>
        </p:nvSpPr>
        <p:spPr>
          <a:xfrm>
            <a:off x="6028432" y="2975520"/>
            <a:ext cx="3082230" cy="9525"/>
          </a:xfrm>
          <a:prstGeom prst="rect">
            <a:avLst/>
          </a:prstGeom>
          <a:solidFill>
            <a:srgbClr val="DAFFD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21"/>
          <p:cNvSpPr/>
          <p:nvPr/>
        </p:nvSpPr>
        <p:spPr>
          <a:xfrm>
            <a:off x="9110662" y="2975520"/>
            <a:ext cx="2509837" cy="9525"/>
          </a:xfrm>
          <a:prstGeom prst="rect">
            <a:avLst/>
          </a:prstGeom>
          <a:solidFill>
            <a:srgbClr val="DAFFD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21"/>
          <p:cNvSpPr/>
          <p:nvPr/>
        </p:nvSpPr>
        <p:spPr>
          <a:xfrm>
            <a:off x="571500" y="3508920"/>
            <a:ext cx="3115865" cy="9525"/>
          </a:xfrm>
          <a:prstGeom prst="rect">
            <a:avLst/>
          </a:prstGeom>
          <a:solidFill>
            <a:srgbClr val="DAFFD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21"/>
          <p:cNvSpPr/>
          <p:nvPr/>
        </p:nvSpPr>
        <p:spPr>
          <a:xfrm>
            <a:off x="3687365" y="3508920"/>
            <a:ext cx="2341066" cy="9525"/>
          </a:xfrm>
          <a:prstGeom prst="rect">
            <a:avLst/>
          </a:prstGeom>
          <a:solidFill>
            <a:srgbClr val="DAFFD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21"/>
          <p:cNvSpPr/>
          <p:nvPr/>
        </p:nvSpPr>
        <p:spPr>
          <a:xfrm>
            <a:off x="6028432" y="3508920"/>
            <a:ext cx="3082230" cy="9525"/>
          </a:xfrm>
          <a:prstGeom prst="rect">
            <a:avLst/>
          </a:prstGeom>
          <a:solidFill>
            <a:srgbClr val="DAFFD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21"/>
          <p:cNvSpPr/>
          <p:nvPr/>
        </p:nvSpPr>
        <p:spPr>
          <a:xfrm>
            <a:off x="9110662" y="3508920"/>
            <a:ext cx="2509837" cy="9525"/>
          </a:xfrm>
          <a:prstGeom prst="rect">
            <a:avLst/>
          </a:prstGeom>
          <a:solidFill>
            <a:srgbClr val="DAFFD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21"/>
          <p:cNvSpPr/>
          <p:nvPr/>
        </p:nvSpPr>
        <p:spPr>
          <a:xfrm>
            <a:off x="571500" y="4042320"/>
            <a:ext cx="3115865" cy="9525"/>
          </a:xfrm>
          <a:prstGeom prst="rect">
            <a:avLst/>
          </a:prstGeom>
          <a:solidFill>
            <a:srgbClr val="DAFFD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21"/>
          <p:cNvSpPr/>
          <p:nvPr/>
        </p:nvSpPr>
        <p:spPr>
          <a:xfrm>
            <a:off x="3687365" y="4042320"/>
            <a:ext cx="2341066" cy="9525"/>
          </a:xfrm>
          <a:prstGeom prst="rect">
            <a:avLst/>
          </a:prstGeom>
          <a:solidFill>
            <a:srgbClr val="DAFFD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21"/>
          <p:cNvSpPr/>
          <p:nvPr/>
        </p:nvSpPr>
        <p:spPr>
          <a:xfrm>
            <a:off x="6028432" y="4042320"/>
            <a:ext cx="3082230" cy="9525"/>
          </a:xfrm>
          <a:prstGeom prst="rect">
            <a:avLst/>
          </a:prstGeom>
          <a:solidFill>
            <a:srgbClr val="DAFFD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21"/>
          <p:cNvSpPr/>
          <p:nvPr/>
        </p:nvSpPr>
        <p:spPr>
          <a:xfrm>
            <a:off x="9110662" y="4042320"/>
            <a:ext cx="2509837" cy="9525"/>
          </a:xfrm>
          <a:prstGeom prst="rect">
            <a:avLst/>
          </a:prstGeom>
          <a:solidFill>
            <a:srgbClr val="DAFFD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21"/>
          <p:cNvSpPr txBox="1"/>
          <p:nvPr/>
        </p:nvSpPr>
        <p:spPr>
          <a:xfrm>
            <a:off x="571500" y="571500"/>
            <a:ext cx="11601450" cy="5028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99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Optimization </a:t>
            </a:r>
            <a:r>
              <a:rPr b="1" i="0" lang="en-US" sz="36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Results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3" name="Google Shape;193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22"/>
          <p:cNvSpPr txBox="1"/>
          <p:nvPr/>
        </p:nvSpPr>
        <p:spPr>
          <a:xfrm>
            <a:off x="1000125" y="3002309"/>
            <a:ext cx="10620375" cy="293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Grounding &gt; Scaling:</a:t>
            </a:r>
            <a:r>
              <a:rPr b="0" i="0" lang="en-US" sz="16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Structural engineering can triple capability in tiny models.</a:t>
            </a:r>
            <a:endParaRPr/>
          </a:p>
        </p:txBody>
      </p:sp>
      <p:sp>
        <p:nvSpPr>
          <p:cNvPr id="195" name="Google Shape;195;p22"/>
          <p:cNvSpPr txBox="1"/>
          <p:nvPr/>
        </p:nvSpPr>
        <p:spPr>
          <a:xfrm>
            <a:off x="1000125" y="3581400"/>
            <a:ext cx="10620375" cy="293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Retrieval Blindness:</a:t>
            </a:r>
            <a:r>
              <a:rPr b="0" i="0" lang="en-US" sz="16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0.5B models are math-capable but retrieval-blind; fixing the input fixates the mind.</a:t>
            </a:r>
            <a:endParaRPr/>
          </a:p>
        </p:txBody>
      </p:sp>
      <p:sp>
        <p:nvSpPr>
          <p:cNvPr id="196" name="Google Shape;196;p22"/>
          <p:cNvSpPr txBox="1"/>
          <p:nvPr/>
        </p:nvSpPr>
        <p:spPr>
          <a:xfrm>
            <a:off x="1000125" y="4160490"/>
            <a:ext cx="10620375" cy="293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Efficiency:</a:t>
            </a:r>
            <a:r>
              <a:rPr b="0" i="0" lang="en-US" sz="16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Grounded SLMs provide a cost-effective path for secure, on-premise financial reasoning.</a:t>
            </a:r>
            <a:endParaRPr/>
          </a:p>
        </p:txBody>
      </p:sp>
      <p:sp>
        <p:nvSpPr>
          <p:cNvPr id="197" name="Google Shape;197;p22"/>
          <p:cNvSpPr txBox="1"/>
          <p:nvPr/>
        </p:nvSpPr>
        <p:spPr>
          <a:xfrm>
            <a:off x="571500" y="3002309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198" name="Google Shape;198;p22"/>
          <p:cNvSpPr txBox="1"/>
          <p:nvPr/>
        </p:nvSpPr>
        <p:spPr>
          <a:xfrm>
            <a:off x="571500" y="3581400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199" name="Google Shape;199;p22"/>
          <p:cNvSpPr txBox="1"/>
          <p:nvPr/>
        </p:nvSpPr>
        <p:spPr>
          <a:xfrm>
            <a:off x="571500" y="4160490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200" name="Google Shape;200;p22"/>
          <p:cNvSpPr txBox="1"/>
          <p:nvPr/>
        </p:nvSpPr>
        <p:spPr>
          <a:xfrm>
            <a:off x="571500" y="571500"/>
            <a:ext cx="11601450" cy="5028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99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Strategic </a:t>
            </a:r>
            <a:r>
              <a:rPr b="1" i="0" lang="en-US" sz="36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Conclusions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05" name="Google Shape;205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23"/>
          <p:cNvSpPr txBox="1"/>
          <p:nvPr/>
        </p:nvSpPr>
        <p:spPr>
          <a:xfrm>
            <a:off x="3545681" y="2107852"/>
            <a:ext cx="51006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7200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Thank You</a:t>
            </a:r>
            <a:endParaRPr/>
          </a:p>
        </p:txBody>
      </p:sp>
      <p:sp>
        <p:nvSpPr>
          <p:cNvPr id="207" name="Google Shape;207;p23"/>
          <p:cNvSpPr txBox="1"/>
          <p:nvPr/>
        </p:nvSpPr>
        <p:spPr>
          <a:xfrm>
            <a:off x="3667125" y="3393727"/>
            <a:ext cx="48579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Benchmarking &amp; Enhancing Qwen</a:t>
            </a:r>
            <a:r>
              <a:rPr lang="en-US" sz="165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b="0" i="0" lang="en-US" sz="16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2.5</a:t>
            </a:r>
            <a:r>
              <a:rPr lang="en-US" sz="165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b="0" i="0" lang="en-US" sz="16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0.5B on FinQA</a:t>
            </a:r>
            <a:endParaRPr/>
          </a:p>
        </p:txBody>
      </p:sp>
      <p:sp>
        <p:nvSpPr>
          <p:cNvPr id="208" name="Google Shape;208;p23"/>
          <p:cNvSpPr txBox="1"/>
          <p:nvPr/>
        </p:nvSpPr>
        <p:spPr>
          <a:xfrm>
            <a:off x="3667125" y="4163317"/>
            <a:ext cx="4857750" cy="293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00025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github.com/czyssrs/FinQA</a:t>
            </a:r>
            <a:endParaRPr/>
          </a:p>
        </p:txBody>
      </p:sp>
      <p:pic>
        <p:nvPicPr>
          <p:cNvPr descr="image.png" id="209" name="Google Shape;209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86312" y="4191892"/>
            <a:ext cx="200025" cy="209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